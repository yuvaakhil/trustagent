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257" r:id="rId2"/>
    <p:sldId id="258" r:id="rId3"/>
    <p:sldId id="259" r:id="rId4"/>
    <p:sldId id="280" r:id="rId5"/>
    <p:sldId id="268" r:id="rId6"/>
    <p:sldId id="260" r:id="rId7"/>
    <p:sldId id="312" r:id="rId8"/>
    <p:sldId id="313" r:id="rId9"/>
    <p:sldId id="331" r:id="rId10"/>
    <p:sldId id="332" r:id="rId11"/>
    <p:sldId id="335" r:id="rId12"/>
    <p:sldId id="334" r:id="rId13"/>
    <p:sldId id="333" r:id="rId14"/>
    <p:sldId id="299" r:id="rId15"/>
    <p:sldId id="300" r:id="rId16"/>
    <p:sldId id="301" r:id="rId17"/>
    <p:sldId id="302" r:id="rId18"/>
    <p:sldId id="303" r:id="rId19"/>
    <p:sldId id="304" r:id="rId20"/>
    <p:sldId id="315" r:id="rId21"/>
    <p:sldId id="316" r:id="rId22"/>
    <p:sldId id="318" r:id="rId23"/>
    <p:sldId id="314" r:id="rId24"/>
    <p:sldId id="319" r:id="rId25"/>
    <p:sldId id="321" r:id="rId26"/>
    <p:sldId id="322" r:id="rId27"/>
    <p:sldId id="323" r:id="rId28"/>
    <p:sldId id="324" r:id="rId29"/>
    <p:sldId id="330" r:id="rId30"/>
    <p:sldId id="325" r:id="rId31"/>
    <p:sldId id="326" r:id="rId32"/>
    <p:sldId id="328" r:id="rId33"/>
    <p:sldId id="329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31" autoAdjust="0"/>
    <p:restoredTop sz="94660"/>
  </p:normalViewPr>
  <p:slideViewPr>
    <p:cSldViewPr snapToGrid="0">
      <p:cViewPr>
        <p:scale>
          <a:sx n="77" d="100"/>
          <a:sy n="77" d="100"/>
        </p:scale>
        <p:origin x="86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FFB5F8-3C92-40F9-83EF-E67BD26AA641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481AF1-334C-4127-9827-DA3EBF6191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1781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481AF1-334C-4127-9827-DA3EBF6191A0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3720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481AF1-334C-4127-9827-DA3EBF6191A0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097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E09F6-35F0-4BD9-B413-870CCF1D7DBE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416A-7D92-4211-AD23-0968018DD29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E09F6-35F0-4BD9-B413-870CCF1D7DBE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416A-7D92-4211-AD23-0968018DD29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E09F6-35F0-4BD9-B413-870CCF1D7DBE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416A-7D92-4211-AD23-0968018DD29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E09F6-35F0-4BD9-B413-870CCF1D7DBE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416A-7D92-4211-AD23-0968018DD29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E09F6-35F0-4BD9-B413-870CCF1D7DBE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416A-7D92-4211-AD23-0968018DD29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E09F6-35F0-4BD9-B413-870CCF1D7DBE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416A-7D92-4211-AD23-0968018DD29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E09F6-35F0-4BD9-B413-870CCF1D7DBE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416A-7D92-4211-AD23-0968018DD29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E09F6-35F0-4BD9-B413-870CCF1D7DBE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416A-7D92-4211-AD23-0968018DD29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E09F6-35F0-4BD9-B413-870CCF1D7DBE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416A-7D92-4211-AD23-0968018DD29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E09F6-35F0-4BD9-B413-870CCF1D7DBE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416A-7D92-4211-AD23-0968018DD29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E09F6-35F0-4BD9-B413-870CCF1D7DBE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416A-7D92-4211-AD23-0968018DD29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DE09F6-35F0-4BD9-B413-870CCF1D7DBE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2A416A-7D92-4211-AD23-0968018DD294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e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s.stellar.or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inata.cloud/" TargetMode="External"/><Relationship Id="rId4" Type="http://schemas.openxmlformats.org/officeDocument/2006/relationships/hyperlink" Target="https://albedo.link/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03948" y="274024"/>
            <a:ext cx="9773586" cy="1428596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704850" marR="5080" indent="-692785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MALLA REDDY COLLEGE OF ENGINEERING &amp; TECHNOLOGY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(Autonomous Institution – UGC, Govt. of India)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10630" y="5073847"/>
            <a:ext cx="3210391" cy="579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</a:pPr>
            <a:r>
              <a:rPr b="1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the </a:t>
            </a:r>
            <a:r>
              <a:rPr lang="en-IN" b="1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Guidance</a:t>
            </a:r>
            <a:r>
              <a:rPr b="1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</a:t>
            </a: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marR="5080">
              <a:spcBef>
                <a:spcPts val="100"/>
              </a:spcBef>
            </a:pPr>
            <a:r>
              <a:rPr lang="en-US" alt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Mrs. </a:t>
            </a:r>
            <a:r>
              <a:rPr lang="en-US" altLang="en-IN" b="1" kern="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Dr</a:t>
            </a:r>
            <a:r>
              <a:rPr lang="en-US" sz="1800" b="1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en-US" b="1" kern="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D. Radha</a:t>
            </a:r>
            <a:endParaRPr lang="en-IN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2D4620D-3493-494A-C8CB-5310BEE986F2}"/>
              </a:ext>
            </a:extLst>
          </p:cNvPr>
          <p:cNvSpPr txBox="1"/>
          <p:nvPr/>
        </p:nvSpPr>
        <p:spPr>
          <a:xfrm>
            <a:off x="1" y="2752699"/>
            <a:ext cx="11052334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 marR="5080" algn="ctr">
              <a:spcBef>
                <a:spcPts val="100"/>
              </a:spcBef>
            </a:pPr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Agentic AI-Based Secure Document Management System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endParaRPr lang="en-IN" sz="2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3FCB98-CBA6-A3C5-4269-9948A4DD5A01}"/>
              </a:ext>
            </a:extLst>
          </p:cNvPr>
          <p:cNvSpPr txBox="1"/>
          <p:nvPr/>
        </p:nvSpPr>
        <p:spPr>
          <a:xfrm>
            <a:off x="7482980" y="4908418"/>
            <a:ext cx="4238908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– C2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P. Yuva Akhil -22N31A05G9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P. Bhargava sai-22N31A05J9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M. Irfan -22N31A05E0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4400" b="1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IN" sz="4400" b="1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</a:t>
            </a:r>
            <a:r>
              <a:rPr lang="en-IN" sz="4400" b="1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IN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8868" y="1621878"/>
            <a:ext cx="10515600" cy="5236121"/>
          </a:xfrm>
        </p:spPr>
        <p:txBody>
          <a:bodyPr>
            <a:normAutofit fontScale="85000" lnSpcReduction="20000"/>
          </a:bodyPr>
          <a:lstStyle/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and Hardware Requirements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 Diagrams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 Explanation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screens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224915"/>
          </a:xfrm>
        </p:spPr>
        <p:txBody>
          <a:bodyPr/>
          <a:lstStyle/>
          <a:p>
            <a:pPr algn="ctr"/>
            <a:r>
              <a:rPr lang="en-IN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E0A887B1-C0EA-AFC6-70A6-F64E96A674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994958"/>
            <a:ext cx="10515600" cy="50167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000" dirty="0"/>
              <a:t>The TrustAgent project presents an agentic AI–based secure document management system that enables users to store, classify, share, and verify sensitive documents such as identity proofs, certificates, and resumes in a secure and privacy-preserving manner. The system integrates artificial intelligence with decentralized technologies to reduce dependency on centralized trust models. TrustAgent uses an AI-driven intent detection mechanism to autonomously understand user requests and manage document workflows. Uploaded documents are analyzed using OCR and content-based classification techniques to accurately identify document types. The documents are stored on the </a:t>
            </a:r>
            <a:r>
              <a:rPr lang="en-US" sz="2000" dirty="0" err="1"/>
              <a:t>InterPlanetary</a:t>
            </a:r>
            <a:r>
              <a:rPr lang="en-US" sz="2000" dirty="0"/>
              <a:t> File System (IPFS), while their cryptographic content identifiers are anchored on the Stellar blockchain to ensure immutability and tamper resistance. The application supports time-bound, expirable sharing links, allowing users to securely share documents with controlled access. The system is accessible through a Telegram bot and a </a:t>
            </a:r>
            <a:r>
              <a:rPr lang="en-US" sz="2000" dirty="0" err="1"/>
              <a:t>webbased</a:t>
            </a:r>
            <a:r>
              <a:rPr lang="en-US" sz="2000" dirty="0"/>
              <a:t> interface, providing an intuitive and user-friendly experience. By combining agentic AI, decentralized storage, and blockchain verification, TrustAgent enhances document security, transparency, and user privacy, making it suitable for trust-critical digital interactions. 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				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838200" y="365125"/>
            <a:ext cx="10515600" cy="12249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IN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/>
        </p:nvSpPr>
        <p:spPr>
          <a:xfrm>
            <a:off x="1064342" y="1855944"/>
            <a:ext cx="10515600" cy="4587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200000"/>
              </a:lnSpc>
              <a:buNone/>
            </a:pPr>
            <a:endParaRPr lang="en-IN" sz="24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sp>
        <p:nvSpPr>
          <p:cNvPr id="14" name="Rectangle 5">
            <a:extLst>
              <a:ext uri="{FF2B5EF4-FFF2-40B4-BE49-F238E27FC236}">
                <a16:creationId xmlns:a16="http://schemas.microsoft.com/office/drawing/2014/main" id="{594A6758-ECA8-676A-6781-0B3945FFE7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57243" y="1936820"/>
            <a:ext cx="11550443" cy="4334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Digital documents are widely shared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jobs, education, banking, and government services, but they are often sent through insecure channels like email or messaging apps.</a:t>
            </a:r>
          </a:p>
          <a:p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Once shared, users lose control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 who can access, copy, or misuse their sensitive documents such as Aadhaar, PAN, and certificates.</a:t>
            </a:r>
          </a:p>
          <a:p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Fake and tampered documents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a growing problem, making it difficult for organizations to trust the authenticity of shared files.</a:t>
            </a:r>
          </a:p>
          <a:p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document storage systems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rely on centralized databases, which are vulnerable to data breaches and unauthorized access.</a:t>
            </a:r>
          </a:p>
          <a:p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a strong need for a secure, verifiable, and privacy-preserving system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allows users to share documents safely and temporarily.</a:t>
            </a:r>
          </a:p>
          <a:p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TrustAgent addresses this problem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by combining AI, secure storage, time-limited access, and blockchain-based verification to ensure trust and control.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630" y="131060"/>
            <a:ext cx="10515600" cy="1325563"/>
          </a:xfrm>
        </p:spPr>
        <p:txBody>
          <a:bodyPr/>
          <a:lstStyle/>
          <a:p>
            <a:pPr algn="ctr"/>
            <a:r>
              <a:rPr lang="en-IN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93155"/>
            <a:ext cx="1106774" cy="1256754"/>
          </a:xfrm>
          <a:prstGeom prst="rect">
            <a:avLst/>
          </a:prstGeom>
        </p:spPr>
      </p:pic>
      <p:sp>
        <p:nvSpPr>
          <p:cNvPr id="10" name="AutoShape 2" descr="Intel Core i5 Core 12400F Desktop Processor 18M Cache, up to 4.40 GHz : Buy  Online at Best Price in KSA - Souq is now Amazon.sa: Electronics">
            <a:extLst>
              <a:ext uri="{FF2B5EF4-FFF2-40B4-BE49-F238E27FC236}">
                <a16:creationId xmlns:a16="http://schemas.microsoft.com/office/drawing/2014/main" id="{C9EA7BCD-7F3A-50FF-C195-AB35CB8960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895CD-6955-CFE8-04C5-2EF4146CEE82}"/>
              </a:ext>
            </a:extLst>
          </p:cNvPr>
          <p:cNvSpPr txBox="1"/>
          <p:nvPr/>
        </p:nvSpPr>
        <p:spPr>
          <a:xfrm>
            <a:off x="564045" y="1409533"/>
            <a:ext cx="10438572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Insecure Document Sharing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Documents are shared via email, WhatsApp, cloud links, or messaging apps.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Once shared, files can be forwarded or downloaded without the owner’s control.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Access Control or Expiry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documents remain accessible indefinitely.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no time limit, download restriction, or automatic revocation.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Document Verification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Receivers cannot verify whether a document is original or tampered.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Fake or modified documents are hard to detect.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Storage Risks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Documents are stored on centralized servers or devices.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makes them vulnerable to data leaks, hacking, or unauthorized access.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Audit Trail or Transparency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no tracking of who accessed the document and when.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Owners have no visibility once the document is shared.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028" y="158389"/>
            <a:ext cx="1106774" cy="1256754"/>
          </a:xfrm>
          <a:prstGeom prst="rect">
            <a:avLst/>
          </a:prstGeom>
        </p:spPr>
      </p:pic>
      <p:sp>
        <p:nvSpPr>
          <p:cNvPr id="14" name="AutoShape 2" descr="Intel Core i5 Core 12400F Desktop Processor 18M Cache, up to 4.40 GHz : Buy  Online at Best Price in KSA - Souq is now Amazon.sa: Electronics">
            <a:extLst>
              <a:ext uri="{FF2B5EF4-FFF2-40B4-BE49-F238E27FC236}">
                <a16:creationId xmlns:a16="http://schemas.microsoft.com/office/drawing/2014/main" id="{281E92A4-FD14-39F6-C3F1-4D14347AF4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7C75F2E4-F5FD-037A-E424-EF55645EFF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626" y="1670071"/>
            <a:ext cx="12342444" cy="50475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Document Upload &amp; Storage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upload sensitive documents (Aadhaar, PAN, Resume, etc.) through TrustAgent.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Documents are securely stored with encrypted references instead of raw files.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Agent-Based Interaction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interact with the system using natural language (chat-based interface).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AI agent understands commands like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upload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 documents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 for X minutes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Time-Bound Access Control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Documents are shared using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temporary, expiring links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 is automatically revoked after the specified time, preventing misuse.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Blockchain-Backed Integrity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 hashes and access records are stored on blockchain.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ensures immutability, tamper-proof verification, and trust.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Fine-Grained User Control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can decide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share, with whom, and for how long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Admins can monitor, verify, and audit document access securely.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7E8438E-F21C-C397-2E0F-62F4A233A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IN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Software Requirements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31554F-6889-18E3-C741-7CC101439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813" y="106080"/>
            <a:ext cx="1106774" cy="12567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5CA9D2-C661-88FF-19EF-C0065ED73969}"/>
              </a:ext>
            </a:extLst>
          </p:cNvPr>
          <p:cNvSpPr txBox="1"/>
          <p:nvPr/>
        </p:nvSpPr>
        <p:spPr>
          <a:xfrm>
            <a:off x="663522" y="1622287"/>
            <a:ext cx="11250593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/ Linux / macOS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Technologies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React.js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HTML5, CSS3, JavaScript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Technologies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Node.js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Express.js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&amp; Agent Components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 Language Model (LLM) API (for intent detection and agent logic)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Platform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Stellar Blockchain (for immutable records and verification)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Services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IPFS (via Pinata API) for decentralized document storage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65657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8ECA26E-2908-8D67-425E-7C822BB9962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IN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57C9328-F823-AB98-CFAC-7C08C2F95FFF}"/>
              </a:ext>
            </a:extLst>
          </p:cNvPr>
          <p:cNvSpPr txBox="1">
            <a:spLocks/>
          </p:cNvSpPr>
          <p:nvPr/>
        </p:nvSpPr>
        <p:spPr>
          <a:xfrm>
            <a:off x="553720" y="1988185"/>
            <a:ext cx="5201285" cy="4189095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60000"/>
              </a:lnSpc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882B4E9-1C3D-D122-3D63-DEE4B7D26FAA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655"/>
          </a:xfrm>
          <a:prstGeom prst="rect">
            <a:avLst/>
          </a:prstGeom>
        </p:spPr>
        <p:txBody>
          <a:bodyPr>
            <a:normAutofit fontScale="97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60000"/>
              </a:lnSpc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1AB0D80-BB1F-F919-497D-A4B5AE46864D}"/>
              </a:ext>
            </a:extLst>
          </p:cNvPr>
          <p:cNvSpPr txBox="1">
            <a:spLocks/>
          </p:cNvSpPr>
          <p:nvPr/>
        </p:nvSpPr>
        <p:spPr>
          <a:xfrm>
            <a:off x="762001" y="530381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Requirements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9305ECF-594E-A338-26B3-E012210D4D38}"/>
              </a:ext>
            </a:extLst>
          </p:cNvPr>
          <p:cNvSpPr txBox="1">
            <a:spLocks/>
          </p:cNvSpPr>
          <p:nvPr/>
        </p:nvSpPr>
        <p:spPr>
          <a:xfrm>
            <a:off x="553720" y="1988185"/>
            <a:ext cx="5201285" cy="4189095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60000"/>
              </a:lnSpc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612472C1-E462-49EF-DAEC-9A6C04B1E264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655"/>
          </a:xfrm>
          <a:prstGeom prst="rect">
            <a:avLst/>
          </a:prstGeom>
        </p:spPr>
        <p:txBody>
          <a:bodyPr>
            <a:normAutofit fontScale="97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60000"/>
              </a:lnSpc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ADE74B-3BE0-EFE9-7C32-42D567AAB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F8654E-CCFC-84DE-26DD-248285140F20}"/>
              </a:ext>
            </a:extLst>
          </p:cNvPr>
          <p:cNvSpPr txBox="1"/>
          <p:nvPr/>
        </p:nvSpPr>
        <p:spPr>
          <a:xfrm>
            <a:off x="1238233" y="1621879"/>
            <a:ext cx="8418288" cy="16312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Machine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Processor: Intel i5 or higher (or equivalent AMD).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RAM: Minimum 8 GB (16 GB recommended for model training).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Storage: At least 25 GB (SSD preferred for faster data handling).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1A7DEA4-CE89-2D99-DF0A-C51F4B949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8200" y="4842902"/>
            <a:ext cx="1881543" cy="18246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A4585DD-F09E-8283-B355-0FC6F51601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872" y="4842902"/>
            <a:ext cx="2143125" cy="1846943"/>
          </a:xfrm>
          <a:prstGeom prst="rect">
            <a:avLst/>
          </a:prstGeom>
        </p:spPr>
      </p:pic>
      <p:pic>
        <p:nvPicPr>
          <p:cNvPr id="14" name="Picture 13" descr="A logo on a gray background&#10;&#10;Description automatically generated">
            <a:extLst>
              <a:ext uri="{FF2B5EF4-FFF2-40B4-BE49-F238E27FC236}">
                <a16:creationId xmlns:a16="http://schemas.microsoft.com/office/drawing/2014/main" id="{E567BD46-FDB5-40FB-2897-1FEE920964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720" y="4966985"/>
            <a:ext cx="1858371" cy="159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9011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D8E4D-4F78-4A46-2B20-E58D88803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A117B-B1DA-03F7-8886-9CA395F13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4950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7BB69-6163-6459-D20E-4CA90C3E1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801ED-42E7-527D-A34E-E167565ED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3486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F2B00-96B6-40C7-1A3C-99A01FC98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6B23B-222F-0EDD-A46D-0723E23C6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9791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E273-0889-E4B7-A5D5-814391F33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34F87-AFD9-5D23-094F-279AB4471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4945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F7E41-1EB6-5CB2-2DE7-6C32B6818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AB421-C5B9-7CBC-B05E-8442C2107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5076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1F87495-0F58-570A-29DF-F01A08C20088}"/>
              </a:ext>
            </a:extLst>
          </p:cNvPr>
          <p:cNvSpPr>
            <a:spLocks noGrp="1"/>
          </p:cNvSpPr>
          <p:nvPr/>
        </p:nvSpPr>
        <p:spPr>
          <a:xfrm>
            <a:off x="810630" y="175852"/>
            <a:ext cx="10515600" cy="10914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495139-A4A1-BAD1-3063-F78A74453A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75852"/>
            <a:ext cx="1106774" cy="1091498"/>
          </a:xfrm>
          <a:prstGeom prst="rect">
            <a:avLst/>
          </a:prstGeom>
        </p:spPr>
      </p:pic>
      <p:sp>
        <p:nvSpPr>
          <p:cNvPr id="7" name="TextBox 10">
            <a:extLst>
              <a:ext uri="{FF2B5EF4-FFF2-40B4-BE49-F238E27FC236}">
                <a16:creationId xmlns:a16="http://schemas.microsoft.com/office/drawing/2014/main" id="{0D4D0B74-97C7-A782-37B7-78891562A67E}"/>
              </a:ext>
            </a:extLst>
          </p:cNvPr>
          <p:cNvSpPr txBox="1"/>
          <p:nvPr/>
        </p:nvSpPr>
        <p:spPr>
          <a:xfrm>
            <a:off x="4053673" y="1828706"/>
            <a:ext cx="2743200" cy="369332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b="1" dirty="0">
                <a:solidFill>
                  <a:srgbClr val="FFFFFF"/>
                </a:solidFill>
                <a:latin typeface="Calibri"/>
              </a:rPr>
              <a:t>Title of the paper</a:t>
            </a: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4F02D2E9-1FAF-3BAF-5933-A13DFFFDB36A}"/>
              </a:ext>
            </a:extLst>
          </p:cNvPr>
          <p:cNvSpPr txBox="1"/>
          <p:nvPr/>
        </p:nvSpPr>
        <p:spPr>
          <a:xfrm>
            <a:off x="7810416" y="1828706"/>
            <a:ext cx="2743200" cy="369332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1"/>
                </a:solidFill>
                <a:latin typeface="Calibri"/>
              </a:rPr>
              <a:t>Outcome</a:t>
            </a:r>
            <a:endParaRPr lang="en-US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37BA9FF-6349-98B5-AD4C-8CF2F4B0EE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8665720"/>
              </p:ext>
            </p:extLst>
          </p:nvPr>
        </p:nvGraphicFramePr>
        <p:xfrm>
          <a:off x="166358" y="1602673"/>
          <a:ext cx="11859284" cy="51034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25546">
                  <a:extLst>
                    <a:ext uri="{9D8B030D-6E8A-4147-A177-3AD203B41FA5}">
                      <a16:colId xmlns:a16="http://schemas.microsoft.com/office/drawing/2014/main" val="2573132532"/>
                    </a:ext>
                  </a:extLst>
                </a:gridCol>
                <a:gridCol w="3017388">
                  <a:extLst>
                    <a:ext uri="{9D8B030D-6E8A-4147-A177-3AD203B41FA5}">
                      <a16:colId xmlns:a16="http://schemas.microsoft.com/office/drawing/2014/main" val="3568299169"/>
                    </a:ext>
                  </a:extLst>
                </a:gridCol>
                <a:gridCol w="2927839">
                  <a:extLst>
                    <a:ext uri="{9D8B030D-6E8A-4147-A177-3AD203B41FA5}">
                      <a16:colId xmlns:a16="http://schemas.microsoft.com/office/drawing/2014/main" val="1850379899"/>
                    </a:ext>
                  </a:extLst>
                </a:gridCol>
                <a:gridCol w="5088511">
                  <a:extLst>
                    <a:ext uri="{9D8B030D-6E8A-4147-A177-3AD203B41FA5}">
                      <a16:colId xmlns:a16="http://schemas.microsoft.com/office/drawing/2014/main" val="1733292758"/>
                    </a:ext>
                  </a:extLst>
                </a:gridCol>
              </a:tblGrid>
              <a:tr h="978375">
                <a:tc>
                  <a:txBody>
                    <a:bodyPr/>
                    <a:lstStyle/>
                    <a:p>
                      <a:pPr algn="just"/>
                      <a:endParaRPr lang="en-US" dirty="0"/>
                    </a:p>
                    <a:p>
                      <a:pPr algn="just"/>
                      <a:r>
                        <a:rPr lang="en-US" dirty="0"/>
                        <a:t>S.no.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b="1" dirty="0">
                        <a:solidFill>
                          <a:schemeClr val="bg1"/>
                        </a:solidFill>
                        <a:latin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b="1" dirty="0">
                          <a:solidFill>
                            <a:schemeClr val="bg1"/>
                          </a:solidFill>
                          <a:latin typeface="Calibri"/>
                        </a:rPr>
                        <a:t>   Author(s) &amp; Journal Details</a:t>
                      </a:r>
                      <a:endParaRPr lang="en-IN" b="1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280702"/>
                  </a:ext>
                </a:extLst>
              </a:tr>
              <a:tr h="127188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dirty="0"/>
                        <a:t>   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 K. Sharma, A. Roy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Blockchain in Access Control Systems 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Uses decentralized ledgers for tamper-proof, immutable visitor records. 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47178"/>
                  </a:ext>
                </a:extLst>
              </a:tr>
              <a:tr h="1426615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dirty="0"/>
                        <a:t>   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M. N. Patil, </a:t>
                      </a:r>
                    </a:p>
                    <a:p>
                      <a:r>
                        <a:rPr lang="fi-FI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V. J. Mahajan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Digital Visitor Logbooks via Web Applications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Replaces manual logbooks with real-time, error-free digital entries. 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4943627"/>
                  </a:ext>
                </a:extLst>
              </a:tr>
              <a:tr h="1426615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dirty="0"/>
                        <a:t>   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P. Dasgupta,</a:t>
                      </a:r>
                    </a:p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V. Iyer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Modular Architecture for Visitor Pass Systems 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Suggests scalable, plug-and-play design allowing easy integration of biometrics, mobile apps, and multilingual support..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624108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0D70793-7DDF-3014-2EC9-CD3F8F500BCD}"/>
              </a:ext>
            </a:extLst>
          </p:cNvPr>
          <p:cNvSpPr txBox="1"/>
          <p:nvPr/>
        </p:nvSpPr>
        <p:spPr>
          <a:xfrm>
            <a:off x="2375913" y="1828706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Title of the paper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C3CE95-54A2-B897-08F3-2A9CA5E3D16B}"/>
              </a:ext>
            </a:extLst>
          </p:cNvPr>
          <p:cNvSpPr txBox="1"/>
          <p:nvPr/>
        </p:nvSpPr>
        <p:spPr>
          <a:xfrm>
            <a:off x="6068430" y="1828706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Calibri"/>
              </a:rPr>
              <a:t>Outcome</a:t>
            </a:r>
            <a:endParaRPr lang="en-US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33160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113CFB3-F4ED-16DA-528A-F00E15838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630" y="199869"/>
            <a:ext cx="10515600" cy="1325563"/>
          </a:xfrm>
        </p:spPr>
        <p:txBody>
          <a:bodyPr/>
          <a:lstStyle/>
          <a:p>
            <a:pPr algn="ctr"/>
            <a:r>
              <a:rPr lang="en-IN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927B4-190D-9784-0E60-97BC7DEAA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CBD9CC7-F9CD-2BE8-635A-687CA018F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775" y="1761104"/>
            <a:ext cx="6648450" cy="453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5031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73FD8AE-9C73-A90E-F80C-9B644CBC8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UML Diagrams</a:t>
            </a:r>
            <a:br>
              <a:rPr lang="en-IN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800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1.Class Diagram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C3981C-93F4-44B2-2C65-8DD5CD4A9C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D3AB98D-EBCE-AE1B-C167-319BF3C35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5353" y="1325563"/>
            <a:ext cx="7301293" cy="5283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208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684B429-C033-0B8D-9E45-048EF11EF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668" y="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2800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2.Use Case Diagram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81BFE-690F-82FF-848F-CAFD2B35E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E68D6D-B663-831F-0B1D-ED0117299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4205" y="1456623"/>
            <a:ext cx="5857875" cy="482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6902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29DB80D-F58C-1C57-15AF-844FEB8F1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440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2800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3.Sequence Diagram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01E893-12CB-88C5-B0B7-A9104FB748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813" y="0"/>
            <a:ext cx="1106774" cy="12567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956334-AB2A-287E-6BA3-E5A25D114C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375" y="1493133"/>
            <a:ext cx="10515600" cy="487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5636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0714F28-5E37-E900-D017-C2D631B4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220" y="-10149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2800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</a:t>
            </a:r>
            <a:r>
              <a:rPr lang="en-IN" sz="2800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Activity Diagram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D90812-8685-85F0-EE88-DA4E725ADF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D742F7-8C1C-E7B3-FC12-9E783787D4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422" y="810228"/>
            <a:ext cx="4253156" cy="6047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599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29D46-3DFC-FDA1-E35D-5007B9288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6A5DCB1-6821-A421-7CF5-5A55B529F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220" y="-10149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2800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5.Component Diagram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D7C436-3CB7-F0E8-6F3B-6F801A6BE0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pic>
        <p:nvPicPr>
          <p:cNvPr id="1028" name="Picture 4" descr="PlantUML diagram">
            <a:extLst>
              <a:ext uri="{FF2B5EF4-FFF2-40B4-BE49-F238E27FC236}">
                <a16:creationId xmlns:a16="http://schemas.microsoft.com/office/drawing/2014/main" id="{4B48650A-B5A4-E175-2E17-B9A4EF0514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75" y="1900238"/>
            <a:ext cx="10382250" cy="3057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3377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9C5EB-9AFB-68D1-4367-E3D665CFF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436FF58-D92B-85C2-92C8-E4FE9AFD9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220" y="-10149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2800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.State Chart Diagram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71070D-5C31-1744-8CAC-EFFB8228F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pic>
        <p:nvPicPr>
          <p:cNvPr id="2050" name="Picture 2" descr="PlantUML diagram">
            <a:extLst>
              <a:ext uri="{FF2B5EF4-FFF2-40B4-BE49-F238E27FC236}">
                <a16:creationId xmlns:a16="http://schemas.microsoft.com/office/drawing/2014/main" id="{A550D491-8707-0267-4891-2D70E16969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1028700"/>
            <a:ext cx="3808413" cy="556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28998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0AD4D-D4AC-514F-8B9F-CC5D8BA30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8F0679-24EA-D935-10DE-186BE08BF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220" y="-10149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7.Deployment Diagram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A1C5B9-B847-F914-4EEC-90ADF0B510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pic>
        <p:nvPicPr>
          <p:cNvPr id="3074" name="Picture 2" descr="PlantUML diagram">
            <a:extLst>
              <a:ext uri="{FF2B5EF4-FFF2-40B4-BE49-F238E27FC236}">
                <a16:creationId xmlns:a16="http://schemas.microsoft.com/office/drawing/2014/main" id="{3E368D60-7135-2E86-97B9-8C8D94254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1638300"/>
            <a:ext cx="9855200" cy="410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8362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0E56E-506D-624C-2C89-CD4CB62F1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7874AC-27FE-3D34-19E8-4268B7E055B3}"/>
              </a:ext>
            </a:extLst>
          </p:cNvPr>
          <p:cNvSpPr txBox="1"/>
          <p:nvPr/>
        </p:nvSpPr>
        <p:spPr>
          <a:xfrm>
            <a:off x="838200" y="1480035"/>
            <a:ext cx="10380406" cy="43073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React.js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Frontend framework for the user interface.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Strongly typed language for frontend development.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Node.js + Express.js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Backend server for API handling.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Albedo Wallet Integration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For secure blockchain transactions.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(Optical Character Recognition)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For extracting visitor details from ID cards.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For secure, tamper-proof gate pass records.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 Code Generation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For unique, scannable gate passes.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B7DF20-E190-EB4E-93E5-C0686CBC0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888" y="1590679"/>
            <a:ext cx="2381250" cy="1590675"/>
          </a:xfrm>
          <a:prstGeom prst="rect">
            <a:avLst/>
          </a:prstGeom>
        </p:spPr>
      </p:pic>
      <p:pic>
        <p:nvPicPr>
          <p:cNvPr id="1031" name="Picture 7" descr="Blockchain technology futuristic hud banner. — Stock Photo, Image">
            <a:extLst>
              <a:ext uri="{FF2B5EF4-FFF2-40B4-BE49-F238E27FC236}">
                <a16:creationId xmlns:a16="http://schemas.microsoft.com/office/drawing/2014/main" id="{17A012BE-FBB9-64C9-3809-255AC5BAB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4411" y="4672022"/>
            <a:ext cx="1903259" cy="1903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76CEF5-501C-2944-2516-10FB05A0C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51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0F641-D48A-BE38-32BF-068E6F2A0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247ED-B407-EDCC-7ADA-D1290239A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 Description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A3B4E0A-063F-FDB1-CB74-64D839B04A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725" y="-376763"/>
            <a:ext cx="9543393" cy="6869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Image Upload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Users upload their Aadhaar/ID card image through the application interface for processing.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OCR Processing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The system extracts visitor details like name, ID number, and photo using Optical Character Recognition.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Blockchain Logging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Visitor details are securely recorded on a decentralized ledger for tamper-proof tracking.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Gate Pass Generation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A digital pass is created with a unique ID and QR code linked to the blockchain record.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Pass Management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Admin reviews, approves, or rejects passes, ensuring controlled and verifiable access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D5BDCD-638E-84EE-151E-D2BB04A45E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483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DB185-5EB2-A23C-52E0-9AC9F2193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D40C9-317A-C1BA-55A9-CDB2544C8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Screens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6729E8-3267-3193-5B5A-4A49AACAE5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4FCEF8-8D33-1AA5-7510-432F12D655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194" y="1690688"/>
            <a:ext cx="10334591" cy="4785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3178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2C9A9-A001-31F5-E53C-4D20F82B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5FA2A-9A05-DB84-0B0B-0C3F03C77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Screens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67DA05-8083-2196-9284-222A41571D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FF5C90-DBF3-F96D-4E30-4802C06AB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890" y="1690688"/>
            <a:ext cx="10272938" cy="465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6485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64869-9EF7-275A-7D79-A9566FC61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39FF5-C5D2-11B6-FC17-DB883D4F8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Screens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62884B-831C-A49D-C193-99696F800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DC24FD-62A8-E6C3-81B0-4C8DF8B48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4017" y="1634767"/>
            <a:ext cx="10439100" cy="4782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792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61761-1B07-D752-6E7E-1726C1AFD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99F75-0836-97B9-F2E4-0C5ADE6E5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Screens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F43EAA-483B-146F-8BD8-6D56F84CF8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DDDF36-8F97-2F51-D265-839605491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079" y="1621879"/>
            <a:ext cx="10789037" cy="4898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6111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0958-6233-1DF2-6B0C-20CAE9714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298F7-3E19-9A5C-D990-5FC90DF0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Screens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6AA78D-82FA-3967-10B8-BA954755EB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1690FD-76CD-9A6D-224C-61CAC1FAF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905"/>
          <a:stretch>
            <a:fillRect/>
          </a:stretch>
        </p:blipFill>
        <p:spPr>
          <a:xfrm>
            <a:off x="3184634" y="1313849"/>
            <a:ext cx="7798675" cy="5006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770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47182-E1BD-8451-A883-C5B21B89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31449-5743-3C20-4F5F-9DAA0FB5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70E565-FF9B-DD7E-F05C-BD715EB48D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053391D-5675-6843-A2F9-99650C98B365}"/>
              </a:ext>
            </a:extLst>
          </p:cNvPr>
          <p:cNvSpPr txBox="1"/>
          <p:nvPr/>
        </p:nvSpPr>
        <p:spPr>
          <a:xfrm>
            <a:off x="838200" y="2028497"/>
            <a:ext cx="1076522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system successfully integrates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create a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tamper-proof visitor pass system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overcomes 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of manual systems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errors, forgery, and lack of real-time verification.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ensures automated and accurate extraction of visitor details, reducing administrative burden.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logging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provides immutability, transparency, and decentralized verification of visitor records.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QR-based gate pass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simplifies validation for security personnel, making the entry process faster and more reliable.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enhances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efficiency, security, and accountability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making it suitable for institutions, corporate offices, and government organizations.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20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F00C8-FA8B-6722-E581-63807FE58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506ED-A2BC-3BD2-EAFD-3E5C13170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880D63-6B7B-893A-9243-0C60E6BA5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sp>
        <p:nvSpPr>
          <p:cNvPr id="8" name="Rectangle 4">
            <a:extLst>
              <a:ext uri="{FF2B5EF4-FFF2-40B4-BE49-F238E27FC236}">
                <a16:creationId xmlns:a16="http://schemas.microsoft.com/office/drawing/2014/main" id="{20B3AAB7-D265-1A44-9146-7CACA82E8E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243" y="-5094910"/>
            <a:ext cx="11225048" cy="11449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Multi-Blockchain Support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Extend beyond Stellar to other blockchains (e.g., Ethereum, Hyperledger) for interoperability.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Mobile App Development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Build a cross-platform mobile app (Android/iOS) for real-time pass generation and verification.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AI-Powered OCR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Use deep learning models to improve OCR accuracy for different ID formats and languages.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Scalability for Enterprises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Deploy on cloud infrastructure to support large organizations, universities, and smart cities.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Visitor Analytics Dashboard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Provide advanced analytics and reporting for monitoring visitor trends and enhancing security.</a:t>
            </a:r>
          </a:p>
        </p:txBody>
      </p:sp>
    </p:spTree>
    <p:extLst>
      <p:ext uri="{BB962C8B-B14F-4D97-AF65-F5344CB8AC3E}">
        <p14:creationId xmlns:p14="http://schemas.microsoft.com/office/powerpoint/2010/main" val="1770969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AEF8D-B53D-B2CA-078B-E918D9DDF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DE804-AD11-EAF7-2FA2-12EAC137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90598D-F8A0-60B8-5BE3-C33304C43B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0C30752-10C1-ADA0-346F-176778055B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945" y="-5547138"/>
            <a:ext cx="10105957" cy="120032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Goodfellow, I., Bengio, Y., &amp; Courville, A. (2016).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MIT Press.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Smith, R. (2007). "An Overview of the Tesseract OCR Engine."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Proceedings of ICDAR 2007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IEEE.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Narayanan, A., Bonneau, J., Felten, E., Miller, A., &amp; Goldfeder, S. (2016).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Bitcoin and Cryptocurrency Technologies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Princeton University Press.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Stellar Development Foundation. (2023).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Stellar Blockchain Documentation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[Online]. Available: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https://developers.stellar.org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Albedo Wallet Docs. (2023).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Albedo Wallet Integration Guide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[Online]. Available: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https://albedo.link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Pinata. (2023).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IPFS &amp; Decentralized Storage Solutions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[Online]. Available: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https://pinata.cloud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98605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4EFC4-313A-3C0E-E3B5-887AEB631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BA12EF-C46A-0396-13EF-BCFBC48B3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43" y="199869"/>
            <a:ext cx="1106774" cy="12567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A0ED22-E146-60D5-0DC6-468CB317A5F4}"/>
              </a:ext>
            </a:extLst>
          </p:cNvPr>
          <p:cNvSpPr txBox="1"/>
          <p:nvPr/>
        </p:nvSpPr>
        <p:spPr>
          <a:xfrm>
            <a:off x="1133953" y="2753711"/>
            <a:ext cx="992409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74591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1082</TotalTime>
  <Words>1555</Words>
  <Application>Microsoft Office PowerPoint</Application>
  <PresentationFormat>Widescreen</PresentationFormat>
  <Paragraphs>213</Paragraphs>
  <Slides>33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Calibri Light</vt:lpstr>
      <vt:lpstr>Times New Roman</vt:lpstr>
      <vt:lpstr>Wingdings</vt:lpstr>
      <vt:lpstr>Office Theme</vt:lpstr>
      <vt:lpstr>  MALLA REDDY COLLEGE OF ENGINEERING &amp; TECHNOLOGY  (Autonomous Institution – UGC, Govt. of India)   DEPARTMENT OF COMPUTER SCIENCE AND ENGINEERING</vt:lpstr>
      <vt:lpstr>AGENDA</vt:lpstr>
      <vt:lpstr>Abstract</vt:lpstr>
      <vt:lpstr>    Introduction</vt:lpstr>
      <vt:lpstr>Existing system</vt:lpstr>
      <vt:lpstr>Proposed system</vt:lpstr>
      <vt:lpstr>Software Requirements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Architecture</vt:lpstr>
      <vt:lpstr>UML Diagrams 1.Class Diagram</vt:lpstr>
      <vt:lpstr>2.Use Case Diagram</vt:lpstr>
      <vt:lpstr>3.Sequence Diagram</vt:lpstr>
      <vt:lpstr>4.Activity Diagram</vt:lpstr>
      <vt:lpstr>5.Component Diagram</vt:lpstr>
      <vt:lpstr>6.State Chart Diagram</vt:lpstr>
      <vt:lpstr>7.Deployment Diagram</vt:lpstr>
      <vt:lpstr>Technologies </vt:lpstr>
      <vt:lpstr>Modules Description </vt:lpstr>
      <vt:lpstr>Output Screens </vt:lpstr>
      <vt:lpstr>Output Screens </vt:lpstr>
      <vt:lpstr>Output Screens </vt:lpstr>
      <vt:lpstr>Output Screens </vt:lpstr>
      <vt:lpstr>Output Screens </vt:lpstr>
      <vt:lpstr>Conclusion</vt:lpstr>
      <vt:lpstr>Future Scope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MALLA REDDY COLLEGE OF ENGINEERING &amp; TECHNOLOGY  (Autonomous Institution – UGC, Govt. of India)   DEPARTMENT OF COMPUTER SCIENCE AND ENGINEERING</dc:title>
  <dc:creator>MRCET</dc:creator>
  <cp:lastModifiedBy>Yuva Akhil</cp:lastModifiedBy>
  <cp:revision>41</cp:revision>
  <dcterms:created xsi:type="dcterms:W3CDTF">2024-02-28T09:55:00Z</dcterms:created>
  <dcterms:modified xsi:type="dcterms:W3CDTF">2026-02-07T13:45:19Z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63AC2C19E2174FC4AC502543E11B4E3B_12</vt:lpwstr>
  </property>
  <property fmtid="{D5CDD505-2E9C-101B-9397-08002B2CF9AE}" pid="3" name="KSOProductBuildVer">
    <vt:lpwstr>1033-12.2.0.17545</vt:lpwstr>
  </property>
</Properties>
</file>