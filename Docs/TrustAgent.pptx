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59" r:id="rId4"/>
    <p:sldId id="280" r:id="rId5"/>
    <p:sldId id="268" r:id="rId6"/>
    <p:sldId id="260" r:id="rId7"/>
    <p:sldId id="312" r:id="rId8"/>
    <p:sldId id="313" r:id="rId9"/>
    <p:sldId id="299" r:id="rId10"/>
    <p:sldId id="300" r:id="rId11"/>
    <p:sldId id="301" r:id="rId12"/>
    <p:sldId id="302" r:id="rId13"/>
    <p:sldId id="303" r:id="rId14"/>
    <p:sldId id="304" r:id="rId15"/>
    <p:sldId id="314" r:id="rId16"/>
    <p:sldId id="319" r:id="rId17"/>
    <p:sldId id="321" r:id="rId18"/>
    <p:sldId id="322" r:id="rId19"/>
    <p:sldId id="323" r:id="rId20"/>
    <p:sldId id="331" r:id="rId21"/>
    <p:sldId id="330" r:id="rId22"/>
    <p:sldId id="324" r:id="rId23"/>
    <p:sldId id="325" r:id="rId24"/>
    <p:sldId id="326" r:id="rId25"/>
    <p:sldId id="328" r:id="rId26"/>
    <p:sldId id="32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1" autoAdjust="0"/>
    <p:restoredTop sz="94660"/>
  </p:normalViewPr>
  <p:slideViewPr>
    <p:cSldViewPr snapToGrid="0">
      <p:cViewPr>
        <p:scale>
          <a:sx n="67" d="100"/>
          <a:sy n="67" d="100"/>
        </p:scale>
        <p:origin x="124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FB5F8-3C92-40F9-83EF-E67BD26AA641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81AF1-334C-4127-9827-DA3EBF61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8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1AF1-334C-4127-9827-DA3EBF6191A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72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1AF1-334C-4127-9827-DA3EBF6191A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97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E09F6-35F0-4BD9-B413-870CCF1D7DB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A416A-7D92-4211-AD23-0968018DD29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stellar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" TargetMode="External"/><Relationship Id="rId5" Type="http://schemas.openxmlformats.org/officeDocument/2006/relationships/hyperlink" Target="https://telegraf.js.org/" TargetMode="External"/><Relationship Id="rId4" Type="http://schemas.openxmlformats.org/officeDocument/2006/relationships/hyperlink" Target="https://pinata.cloud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948" y="274024"/>
            <a:ext cx="9773586" cy="142859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704850" marR="5080" indent="-692785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MALLA REDDY COLLEGE OF ENGINEERING &amp; TECHNOLOGY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 Institution – UGC, Govt. of India)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630" y="5073847"/>
            <a:ext cx="3210391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IN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spcBef>
                <a:spcPts val="100"/>
              </a:spcBef>
            </a:pP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US" altLang="en-IN" b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Radha</a:t>
            </a:r>
            <a:endParaRPr lang="en-IN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D4620D-3493-494A-C8CB-5310BEE986F2}"/>
              </a:ext>
            </a:extLst>
          </p:cNvPr>
          <p:cNvSpPr txBox="1"/>
          <p:nvPr/>
        </p:nvSpPr>
        <p:spPr>
          <a:xfrm>
            <a:off x="1" y="2752699"/>
            <a:ext cx="1105233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Agentic AI-Based Secure Document Management System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FCB98-CBA6-A3C5-4269-9948A4DD5A01}"/>
              </a:ext>
            </a:extLst>
          </p:cNvPr>
          <p:cNvSpPr txBox="1"/>
          <p:nvPr/>
        </p:nvSpPr>
        <p:spPr>
          <a:xfrm>
            <a:off x="7482980" y="4908418"/>
            <a:ext cx="423890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– C2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Yuva Akhil -22N31A05G9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Bhargava sai-22N31A05J9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Irfan -22N31A05E0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</a:t>
            </a:r>
            <a:r>
              <a:rPr lang="en-IN" sz="44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868" y="1621878"/>
            <a:ext cx="10515600" cy="523612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4915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0A887B1-C0EA-AFC6-70A6-F64E96A67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94958"/>
            <a:ext cx="10515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The TrustAgent project presents an agentic AI–based secure document management system that enables users to store, classify, share, and verify sensitive documents such as identity proofs, certificates, and resumes in a secure and privacy-preserving manner. The system integrates artificial intelligence with decentralized technologies to reduce dependency on centralized trust models. TrustAgent uses an AI-driven intent detection mechanism to autonomously understand user requests and manage document workflows. Uploaded documents are analyzed using OCR and content-based classification techniques to accurately identify document types. The documents are stored on the </a:t>
            </a:r>
            <a:r>
              <a:rPr lang="en-US" sz="2000" dirty="0" err="1"/>
              <a:t>InterPlanetary</a:t>
            </a:r>
            <a:r>
              <a:rPr lang="en-US" sz="2000" dirty="0"/>
              <a:t> File System (IPFS), while their cryptographic content identifiers are anchored on the Stellar blockchain to ensure immutability and tamper resistance. The application supports time-bound, expirable sharing links, allowing users to securely share documents with controlled access. The system is accessible through a Telegram bot and a </a:t>
            </a:r>
            <a:r>
              <a:rPr lang="en-US" sz="2000" dirty="0" err="1"/>
              <a:t>webbased</a:t>
            </a:r>
            <a:r>
              <a:rPr lang="en-US" sz="2000" dirty="0"/>
              <a:t> interface, providing an intuitive and user-friendly experience. By combining agentic AI, decentralized storage, and blockchain verification, TrustAgent enhances document security, transparency, and user privacy, making it suitable for trust-critical digital interactions.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838200" y="365125"/>
            <a:ext cx="10515600" cy="1224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1064342" y="1855944"/>
            <a:ext cx="10515600" cy="4587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200000"/>
              </a:lnSpc>
              <a:buNone/>
            </a:pPr>
            <a:endParaRPr lang="en-I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594A6758-ECA8-676A-6781-0B3945FFE7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7243" y="1936820"/>
            <a:ext cx="11550443" cy="433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documents are widely shared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jobs, education, banking, and government services, but they are often sent through insecure channels like email or messaging apps.</a:t>
            </a: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shared, users lose control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who can access, copy, or misuse their sensitive documents such as Aadhaar, PAN, and certificates.</a:t>
            </a: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and tampered documents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 growing problem, making it difficult for organizations to trust the authenticity of shared files.</a:t>
            </a: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document storage systems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rely on centralized databases, which are vulnerable to data breaches and unauthorized access.</a:t>
            </a: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 secure, verifiable, and privacy-preserving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users to share documents safely and temporarily.</a:t>
            </a: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TrustAgent addresses this problem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AI, secure storage, time-limited access, and blockchain-based verification to ensure trust and control.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630" y="131060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93155"/>
            <a:ext cx="1106774" cy="1256754"/>
          </a:xfrm>
          <a:prstGeom prst="rect">
            <a:avLst/>
          </a:prstGeom>
        </p:spPr>
      </p:pic>
      <p:sp>
        <p:nvSpPr>
          <p:cNvPr id="10" name="AutoShape 2" descr="Intel Core i5 Core 12400F Desktop Processor 18M Cache, up to 4.40 GHz : Buy  Online at Best Price in KSA - Souq is now Amazon.sa: Electronics">
            <a:extLst>
              <a:ext uri="{FF2B5EF4-FFF2-40B4-BE49-F238E27FC236}">
                <a16:creationId xmlns:a16="http://schemas.microsoft.com/office/drawing/2014/main" id="{C9EA7BCD-7F3A-50FF-C195-AB35CB896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895CD-6955-CFE8-04C5-2EF4146CEE82}"/>
              </a:ext>
            </a:extLst>
          </p:cNvPr>
          <p:cNvSpPr txBox="1"/>
          <p:nvPr/>
        </p:nvSpPr>
        <p:spPr>
          <a:xfrm>
            <a:off x="564045" y="1409533"/>
            <a:ext cx="1043857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Insecure Document Sharing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shared via email, WhatsApp, cloud links, or messaging apps.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shared, files can be forwarded or downloaded without the owner’s control.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Access Control or Expiry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documents remain accessible indefinitely.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time limit, download restriction, or automatic revocation.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Document Verification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Receivers cannot verify whether a document is original or tampered.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or modified documents are hard to detect.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Storage Risks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stored on centralized servers or devices.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them vulnerable to data leaks, hacking, or unauthorized access.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Audit Trail or Transparency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tracking of who accessed the document and when.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 have no visibility once the document is shared.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28" y="158389"/>
            <a:ext cx="1106774" cy="1256754"/>
          </a:xfrm>
          <a:prstGeom prst="rect">
            <a:avLst/>
          </a:prstGeom>
        </p:spPr>
      </p:pic>
      <p:sp>
        <p:nvSpPr>
          <p:cNvPr id="14" name="AutoShape 2" descr="Intel Core i5 Core 12400F Desktop Processor 18M Cache, up to 4.40 GHz : Buy  Online at Best Price in KSA - Souq is now Amazon.sa: Electronics">
            <a:extLst>
              <a:ext uri="{FF2B5EF4-FFF2-40B4-BE49-F238E27FC236}">
                <a16:creationId xmlns:a16="http://schemas.microsoft.com/office/drawing/2014/main" id="{281E92A4-FD14-39F6-C3F1-4D14347AF4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7C75F2E4-F5FD-037A-E424-EF55645EF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26" y="1670071"/>
            <a:ext cx="12342444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Document Upload &amp; Storage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sensitive documents (Aadhaar, PAN, Resume, etc.) through TrustAgent.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securely stored with encrypted references instead of raw files.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Agent-Based Interaction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interact with the system using natural language (chat-based interface).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agent understands commands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documents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for X minutes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Time-Bound Access Control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shared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temporary, expiring links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is automatically revoked after the specified time, preventing misuse.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Blockchain-Backed Integrity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hashes and access records are stored on blockchain.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immutability, tamper-proof verification, and trust.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User Control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decide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share, with whom, and for how long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monitor, verify, and audit document access securely.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8438E-F21C-C397-2E0F-62F4A233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1554F-6889-18E3-C741-7CC101439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3" y="106080"/>
            <a:ext cx="1106774" cy="12567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5CA9D2-C661-88FF-19EF-C0065ED73969}"/>
              </a:ext>
            </a:extLst>
          </p:cNvPr>
          <p:cNvSpPr txBox="1"/>
          <p:nvPr/>
        </p:nvSpPr>
        <p:spPr>
          <a:xfrm>
            <a:off x="663522" y="1622287"/>
            <a:ext cx="1125059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/ Linux / macOS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Agent Components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(LLM) API (for intent detection and agent logic)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Platform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Stellar Blockchain (for immutable records and verification)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Services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(via Pinata API) for decentralized document storage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56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ECA26E-2908-8D67-425E-7C822BB996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7C9328-F823-AB98-CFAC-7C08C2F95FFF}"/>
              </a:ext>
            </a:extLst>
          </p:cNvPr>
          <p:cNvSpPr txBox="1">
            <a:spLocks/>
          </p:cNvSpPr>
          <p:nvPr/>
        </p:nvSpPr>
        <p:spPr>
          <a:xfrm>
            <a:off x="553720" y="1988185"/>
            <a:ext cx="5201285" cy="4189095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882B4E9-1C3D-D122-3D63-DEE4B7D26FAA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6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AB0D80-BB1F-F919-497D-A4B5AE46864D}"/>
              </a:ext>
            </a:extLst>
          </p:cNvPr>
          <p:cNvSpPr txBox="1">
            <a:spLocks/>
          </p:cNvSpPr>
          <p:nvPr/>
        </p:nvSpPr>
        <p:spPr>
          <a:xfrm>
            <a:off x="762001" y="53038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305ECF-594E-A338-26B3-E012210D4D38}"/>
              </a:ext>
            </a:extLst>
          </p:cNvPr>
          <p:cNvSpPr txBox="1">
            <a:spLocks/>
          </p:cNvSpPr>
          <p:nvPr/>
        </p:nvSpPr>
        <p:spPr>
          <a:xfrm>
            <a:off x="553720" y="1988185"/>
            <a:ext cx="5201285" cy="4189095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12472C1-E462-49EF-DAEC-9A6C04B1E264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6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ADE74B-3BE0-EFE9-7C32-42D567AAB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F8654E-CCFC-84DE-26DD-248285140F20}"/>
              </a:ext>
            </a:extLst>
          </p:cNvPr>
          <p:cNvSpPr txBox="1"/>
          <p:nvPr/>
        </p:nvSpPr>
        <p:spPr>
          <a:xfrm>
            <a:off x="1238233" y="1621879"/>
            <a:ext cx="8418288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Machine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higher (or equivalent AMD).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 (16 GB recommended for model training).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At least 25 GB (SSD preferred for faster data handling).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A7DEA4-CE89-2D99-DF0A-C51F4B94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200" y="4842902"/>
            <a:ext cx="1881543" cy="1824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4585DD-F09E-8283-B355-0FC6F5160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872" y="4842902"/>
            <a:ext cx="2143125" cy="1846943"/>
          </a:xfrm>
          <a:prstGeom prst="rect">
            <a:avLst/>
          </a:prstGeom>
        </p:spPr>
      </p:pic>
      <p:pic>
        <p:nvPicPr>
          <p:cNvPr id="14" name="Picture 13" descr="A logo on a gray background&#10;&#10;Description automatically generated">
            <a:extLst>
              <a:ext uri="{FF2B5EF4-FFF2-40B4-BE49-F238E27FC236}">
                <a16:creationId xmlns:a16="http://schemas.microsoft.com/office/drawing/2014/main" id="{E567BD46-FDB5-40FB-2897-1FEE92096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20" y="4966985"/>
            <a:ext cx="1858371" cy="159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01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F87495-0F58-570A-29DF-F01A08C20088}"/>
              </a:ext>
            </a:extLst>
          </p:cNvPr>
          <p:cNvSpPr>
            <a:spLocks noGrp="1"/>
          </p:cNvSpPr>
          <p:nvPr/>
        </p:nvSpPr>
        <p:spPr>
          <a:xfrm>
            <a:off x="810630" y="175852"/>
            <a:ext cx="10515600" cy="1091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95139-A4A1-BAD1-3063-F78A74453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75852"/>
            <a:ext cx="1106774" cy="1091498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0D4D0B74-97C7-A782-37B7-78891562A67E}"/>
              </a:ext>
            </a:extLst>
          </p:cNvPr>
          <p:cNvSpPr txBox="1"/>
          <p:nvPr/>
        </p:nvSpPr>
        <p:spPr>
          <a:xfrm>
            <a:off x="4053673" y="1828706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>
                <a:solidFill>
                  <a:srgbClr val="FFFFFF"/>
                </a:solidFill>
                <a:latin typeface="Calibri"/>
              </a:rPr>
              <a:t>Title of the paper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4F02D2E9-1FAF-3BAF-5933-A13DFFFDB36A}"/>
              </a:ext>
            </a:extLst>
          </p:cNvPr>
          <p:cNvSpPr txBox="1"/>
          <p:nvPr/>
        </p:nvSpPr>
        <p:spPr>
          <a:xfrm>
            <a:off x="7810416" y="1828706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Calibri"/>
              </a:rPr>
              <a:t>Outcome</a:t>
            </a:r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7BA9FF-6349-98B5-AD4C-8CF2F4B0E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937366"/>
              </p:ext>
            </p:extLst>
          </p:nvPr>
        </p:nvGraphicFramePr>
        <p:xfrm>
          <a:off x="166358" y="1602673"/>
          <a:ext cx="11859284" cy="51034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5546">
                  <a:extLst>
                    <a:ext uri="{9D8B030D-6E8A-4147-A177-3AD203B41FA5}">
                      <a16:colId xmlns:a16="http://schemas.microsoft.com/office/drawing/2014/main" val="2573132532"/>
                    </a:ext>
                  </a:extLst>
                </a:gridCol>
                <a:gridCol w="3017388">
                  <a:extLst>
                    <a:ext uri="{9D8B030D-6E8A-4147-A177-3AD203B41FA5}">
                      <a16:colId xmlns:a16="http://schemas.microsoft.com/office/drawing/2014/main" val="3568299169"/>
                    </a:ext>
                  </a:extLst>
                </a:gridCol>
                <a:gridCol w="2927839">
                  <a:extLst>
                    <a:ext uri="{9D8B030D-6E8A-4147-A177-3AD203B41FA5}">
                      <a16:colId xmlns:a16="http://schemas.microsoft.com/office/drawing/2014/main" val="1850379899"/>
                    </a:ext>
                  </a:extLst>
                </a:gridCol>
                <a:gridCol w="5088511">
                  <a:extLst>
                    <a:ext uri="{9D8B030D-6E8A-4147-A177-3AD203B41FA5}">
                      <a16:colId xmlns:a16="http://schemas.microsoft.com/office/drawing/2014/main" val="1733292758"/>
                    </a:ext>
                  </a:extLst>
                </a:gridCol>
              </a:tblGrid>
              <a:tr h="978375"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  <a:p>
                      <a:pPr algn="just"/>
                      <a:r>
                        <a:rPr lang="en-US" dirty="0"/>
                        <a:t>S.no.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bg1"/>
                        </a:solidFill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Calibri"/>
                        </a:rPr>
                        <a:t>   Author(s) &amp; Journal Details</a:t>
                      </a:r>
                      <a:endParaRPr lang="en-IN" b="1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280702"/>
                  </a:ext>
                </a:extLst>
              </a:tr>
              <a:tr h="12718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647178"/>
                  </a:ext>
                </a:extLst>
              </a:tr>
              <a:tr h="1426615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Secure Document Management Systems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importance of encrypted storage, access control, and secure link sharing mechanisms.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943627"/>
                  </a:ext>
                </a:extLst>
              </a:tr>
              <a:tr h="1426615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Uses machine learning models to automatically classify documents based on extracted textual content.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4108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0D70793-7DDF-3014-2EC9-CD3F8F500BCD}"/>
              </a:ext>
            </a:extLst>
          </p:cNvPr>
          <p:cNvSpPr txBox="1"/>
          <p:nvPr/>
        </p:nvSpPr>
        <p:spPr>
          <a:xfrm>
            <a:off x="2375913" y="182870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Title of the paper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3CE95-54A2-B897-08F3-2A9CA5E3D16B}"/>
              </a:ext>
            </a:extLst>
          </p:cNvPr>
          <p:cNvSpPr txBox="1"/>
          <p:nvPr/>
        </p:nvSpPr>
        <p:spPr>
          <a:xfrm>
            <a:off x="6068430" y="182870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/>
              </a:rPr>
              <a:t>Outcome</a:t>
            </a:r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4FDD64-C360-19DF-44CE-21BDB771F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106855"/>
              </p:ext>
            </p:extLst>
          </p:nvPr>
        </p:nvGraphicFramePr>
        <p:xfrm>
          <a:off x="1046018" y="2704846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82173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Z. Zheng et al., IEEE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50041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36DC90-F603-F42E-60B2-A62A73227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15102"/>
              </p:ext>
            </p:extLst>
          </p:nvPr>
        </p:nvGraphicFramePr>
        <p:xfrm>
          <a:off x="4053674" y="2579204"/>
          <a:ext cx="2824297" cy="942209"/>
        </p:xfrm>
        <a:graphic>
          <a:graphicData uri="http://schemas.openxmlformats.org/drawingml/2006/table">
            <a:tbl>
              <a:tblPr/>
              <a:tblGrid>
                <a:gridCol w="2824297">
                  <a:extLst>
                    <a:ext uri="{9D8B030D-6E8A-4147-A177-3AD203B41FA5}">
                      <a16:colId xmlns:a16="http://schemas.microsoft.com/office/drawing/2014/main" val="2127826950"/>
                    </a:ext>
                  </a:extLst>
                </a:gridCol>
              </a:tblGrid>
              <a:tr h="942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Blockchain-Based Secure Data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72298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34720BF-6798-2E3D-0F79-0167AEE91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119639"/>
              </p:ext>
            </p:extLst>
          </p:nvPr>
        </p:nvGraphicFramePr>
        <p:xfrm>
          <a:off x="7019479" y="2540881"/>
          <a:ext cx="5006163" cy="942210"/>
        </p:xfrm>
        <a:graphic>
          <a:graphicData uri="http://schemas.openxmlformats.org/drawingml/2006/table">
            <a:tbl>
              <a:tblPr/>
              <a:tblGrid>
                <a:gridCol w="5006163">
                  <a:extLst>
                    <a:ext uri="{9D8B030D-6E8A-4147-A177-3AD203B41FA5}">
                      <a16:colId xmlns:a16="http://schemas.microsoft.com/office/drawing/2014/main" val="3132088837"/>
                    </a:ext>
                  </a:extLst>
                </a:gridCol>
              </a:tblGrid>
              <a:tr h="942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Demonstrates use of blockchain for tamper-proof data storage and integrity verification.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2605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8C79489-727C-620F-307F-90942AE47217}"/>
              </a:ext>
            </a:extLst>
          </p:cNvPr>
          <p:cNvSpPr txBox="1"/>
          <p:nvPr/>
        </p:nvSpPr>
        <p:spPr>
          <a:xfrm>
            <a:off x="1046018" y="3926774"/>
            <a:ext cx="29041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A. Al-Shaikh et al., Int. Journal of Highlights </a:t>
            </a:r>
            <a:r>
              <a:rPr lang="en-US" dirty="0" err="1"/>
              <a:t>ComputerApplications</a:t>
            </a:r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46A91B-73C6-D1D1-F13D-C3C2B783A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38270"/>
              </p:ext>
            </p:extLst>
          </p:nvPr>
        </p:nvGraphicFramePr>
        <p:xfrm>
          <a:off x="1074229" y="5471545"/>
          <a:ext cx="2757448" cy="640080"/>
        </p:xfrm>
        <a:graphic>
          <a:graphicData uri="http://schemas.openxmlformats.org/drawingml/2006/table">
            <a:tbl>
              <a:tblPr/>
              <a:tblGrid>
                <a:gridCol w="2757448">
                  <a:extLst>
                    <a:ext uri="{9D8B030D-6E8A-4147-A177-3AD203B41FA5}">
                      <a16:colId xmlns:a16="http://schemas.microsoft.com/office/drawing/2014/main" val="2370573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S. Liu, Y. Wang, Journal of AI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02424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E0EA5F0-BC85-9CD8-631B-5A78FBE78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10400"/>
              </p:ext>
            </p:extLst>
          </p:nvPr>
        </p:nvGraphicFramePr>
        <p:xfrm>
          <a:off x="3973185" y="5140165"/>
          <a:ext cx="2904175" cy="1028521"/>
        </p:xfrm>
        <a:graphic>
          <a:graphicData uri="http://schemas.openxmlformats.org/drawingml/2006/table">
            <a:tbl>
              <a:tblPr/>
              <a:tblGrid>
                <a:gridCol w="2904175">
                  <a:extLst>
                    <a:ext uri="{9D8B030D-6E8A-4147-A177-3AD203B41FA5}">
                      <a16:colId xmlns:a16="http://schemas.microsoft.com/office/drawing/2014/main" val="2855135826"/>
                    </a:ext>
                  </a:extLst>
                </a:gridCol>
              </a:tblGrid>
              <a:tr h="1028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AI-Based Document Classification Using NLP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7103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D54DB46-55EC-AC8A-2E8C-8C2DC642C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735855"/>
              </p:ext>
            </p:extLst>
          </p:nvPr>
        </p:nvGraphicFramePr>
        <p:xfrm>
          <a:off x="1539073" y="1009950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1601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766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16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13CFB3-F4ED-16DA-528A-F00E15838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630" y="199869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927B4-190D-9784-0E60-97BC7DEAA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5CC51F78-FB0D-4FC0-B5C6-6DFF9FCA9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404" y="1309253"/>
            <a:ext cx="8614064" cy="473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503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3FD8AE-9C73-A90E-F80C-9B644CB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br>
              <a:rPr lang="en-IN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1.Class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3981C-93F4-44B2-2C65-8DD5CD4A9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99773D43-3735-1697-B31F-0693C1F291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21082" y="-245918"/>
            <a:ext cx="6930736" cy="693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8E5AB9-02C1-D930-06DB-B3939D351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083" y="1325563"/>
            <a:ext cx="7614458" cy="522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0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684B429-C033-0B8D-9E45-048EF11E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66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2.Use Case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81BFE-690F-82FF-848F-CAFD2B35E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12FE07-648B-5875-FE7A-51EBA8F75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45" y="1759413"/>
            <a:ext cx="11167110" cy="363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9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9DB80D-F58C-1C57-15AF-844FEB8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4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3.Sequence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1E893-12CB-88C5-B0B7-A9104FB74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3" y="0"/>
            <a:ext cx="1106774" cy="12567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550DD6-24DF-3332-B7B1-DFA43D01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077" y="1256754"/>
            <a:ext cx="884872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6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714F28-5E37-E900-D017-C2D631B4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220" y="-1014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28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90812-8685-85F0-EE88-DA4E725AD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18AF7A-1C27-E9FF-3C87-5472E2504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735" y="1086910"/>
            <a:ext cx="4315225" cy="56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9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E56E-506D-624C-2C89-CD4CB62F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874AC-27FE-3D34-19E8-4268B7E055B3}"/>
              </a:ext>
            </a:extLst>
          </p:cNvPr>
          <p:cNvSpPr txBox="1"/>
          <p:nvPr/>
        </p:nvSpPr>
        <p:spPr>
          <a:xfrm>
            <a:off x="545697" y="1636006"/>
            <a:ext cx="9743044" cy="49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Node.js + Express.js</a:t>
            </a:r>
            <a:r>
              <a:rPr lang="en-IN" sz="2000" dirty="0"/>
              <a:t> – Backend server for handling APIs, document processing, and secure link generation.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Telegram Bot (Telegraf.js)</a:t>
            </a:r>
            <a:r>
              <a:rPr lang="en-IN" sz="2000" dirty="0"/>
              <a:t> – User interface layer for uploading, managing, and sharing documents via chat.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MongoDB</a:t>
            </a:r>
            <a:r>
              <a:rPr lang="en-IN" sz="2000" dirty="0"/>
              <a:t> – Database for storing document metadata, user records, CIDs, and blockchain transaction hashes.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IPFS (</a:t>
            </a:r>
            <a:r>
              <a:rPr lang="en-IN" sz="2000" b="1" dirty="0" err="1"/>
              <a:t>InterPlanetary</a:t>
            </a:r>
            <a:r>
              <a:rPr lang="en-IN" sz="2000" b="1" dirty="0"/>
              <a:t> File System)</a:t>
            </a:r>
            <a:r>
              <a:rPr lang="en-IN" sz="2000" dirty="0"/>
              <a:t> – Decentralized storage for secure, content-addressed document storage.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Stellar Blockchain</a:t>
            </a:r>
            <a:r>
              <a:rPr lang="en-IN" sz="2000" dirty="0"/>
              <a:t> – For anchoring document hash (CID) to ensure tamper-proof integrity verification.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OCR (Tesseract / OCR Service)</a:t>
            </a:r>
            <a:r>
              <a:rPr lang="en-IN" sz="2000" dirty="0"/>
              <a:t> – Extracts textual data from uploaded images and PDF documents.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Secure Link Service (UUID + Expiry Logic)</a:t>
            </a:r>
            <a:r>
              <a:rPr lang="en-IN" sz="2000" dirty="0"/>
              <a:t> – Generates time-bound, unique access links.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/>
              <a:t>Axios</a:t>
            </a:r>
            <a:r>
              <a:rPr lang="en-IN" sz="2000" dirty="0"/>
              <a:t> – Handles communication between Telegram bot and backend APIs.</a:t>
            </a:r>
          </a:p>
          <a:p>
            <a:pPr algn="just">
              <a:lnSpc>
                <a:spcPct val="2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B7DF20-E190-EB4E-93E5-C0686CBC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507" y="73673"/>
            <a:ext cx="2381250" cy="1590675"/>
          </a:xfrm>
          <a:prstGeom prst="rect">
            <a:avLst/>
          </a:prstGeom>
        </p:spPr>
      </p:pic>
      <p:pic>
        <p:nvPicPr>
          <p:cNvPr id="1031" name="Picture 7" descr="Blockchain technology futuristic hud banner. — Stock Photo, Image">
            <a:extLst>
              <a:ext uri="{FF2B5EF4-FFF2-40B4-BE49-F238E27FC236}">
                <a16:creationId xmlns:a16="http://schemas.microsoft.com/office/drawing/2014/main" id="{17A012BE-FBB9-64C9-3809-255AC5BAB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8741" y="4881068"/>
            <a:ext cx="1903259" cy="190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76CEF5-501C-2944-2516-10FB05A0C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1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0F641-D48A-BE38-32BF-068E6F2A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47ED-B407-EDCC-7ADA-D1290239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3B4E0A-063F-FDB1-CB74-64D839B04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017" y="1621879"/>
            <a:ext cx="904122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User Interaction Module - </a:t>
            </a:r>
            <a:r>
              <a:rPr lang="en-IN" sz="2000" dirty="0"/>
              <a:t>Handles communication between users and the system via Telegram Bot for uploading, retrieving, sharing, and deleting documents.</a:t>
            </a:r>
          </a:p>
          <a:p>
            <a:pPr algn="just"/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AI Intent &amp; Document Classification Module - </a:t>
            </a:r>
            <a:r>
              <a:rPr lang="en-IN" sz="2000" dirty="0"/>
              <a:t>Uses AI to detect user commands and automatically classify uploaded documents based on extracted text.</a:t>
            </a:r>
          </a:p>
          <a:p>
            <a:pPr algn="just"/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Secure Link &amp; Access Control Module - </a:t>
            </a:r>
            <a:r>
              <a:rPr lang="en-IN" sz="2000" dirty="0"/>
              <a:t>Generates time-bound secure links and manages controlled document access and deletion.</a:t>
            </a:r>
          </a:p>
          <a:p>
            <a:pPr algn="just"/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Secure Document Storage Module (IPFS)- </a:t>
            </a:r>
            <a:r>
              <a:rPr lang="en-IN" sz="2000" dirty="0"/>
              <a:t>Stores uploaded documents in decentralized IPFS storage using content-based hashing (CID).</a:t>
            </a:r>
          </a:p>
          <a:p>
            <a:pPr algn="just"/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Blockchain Verification Module - </a:t>
            </a:r>
            <a:r>
              <a:rPr lang="en-IN" sz="2000" dirty="0"/>
              <a:t>Anchors document hash to the Stellar blockchain to ensure tamper-proof integrity verification.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5BDCD-638E-84EE-151E-D2BB04A45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83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DB185-5EB2-A23C-52E0-9AC9F219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40C9-317A-C1BA-55A9-CDB2544C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6729E8-3267-3193-5B5A-4A49AACAE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4A190F-8183-50AA-FE31-D26BCD2F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334" y="1456623"/>
            <a:ext cx="8131332" cy="522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17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C9A9-A001-31F5-E53C-4D20F82B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FA2A-9A05-DB84-0B0B-0C3F03C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7DA05-8083-2196-9284-222A41571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75F35-28D0-101E-0A2D-44498908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154" y="1456623"/>
            <a:ext cx="8125691" cy="519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48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64869-9EF7-275A-7D79-A9566FC6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9FF5-C5D2-11B6-FC17-DB883D4F8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2884B-831C-A49D-C193-99696F800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0465ED-4B68-5805-E03B-DC7D9F535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162" y="1348740"/>
            <a:ext cx="8215676" cy="52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9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1C13-0F14-51B1-9F5D-DDB622C6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89D2-B93B-9561-23B3-202B5198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AB6B-FC49-B2C0-C1E9-C01FF419F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4DC9CD-092E-3360-E191-063750360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017" y="1621879"/>
            <a:ext cx="10402176" cy="474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40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0958-6233-1DF2-6B0C-20CAE971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98F7-3E19-9A5C-D990-5FC90DF0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AA78D-82FA-3967-10B8-BA954755E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8CC50-0F35-8FE8-A62C-ADAEB387D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1690688"/>
            <a:ext cx="10386023" cy="475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77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1761-1B07-D752-6E7E-1726C1AF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9F75-0836-97B9-F2E4-0C5ADE6E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43EAA-483B-146F-8BD8-6D56F84CF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00E95B-CE8F-8460-07CA-9B279D9AB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6" y="1621879"/>
            <a:ext cx="10827983" cy="502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11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7182-E1BD-8451-A883-C5B21B89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1449-5743-3C20-4F5F-9DAA0FB5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E565-FF9B-DD7E-F05C-BD715EB48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53391D-5675-6843-A2F9-99650C98B365}"/>
              </a:ext>
            </a:extLst>
          </p:cNvPr>
          <p:cNvSpPr txBox="1"/>
          <p:nvPr/>
        </p:nvSpPr>
        <p:spPr>
          <a:xfrm>
            <a:off x="838200" y="2028497"/>
            <a:ext cx="107652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Successfully developed an AI-based secure document management system using a Telegram bot interface.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Implemented automatic document classification using OCR and AI techniques.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Ensured secure and decentralized storage of documents using IPFS.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Achieved tamper-proof integrity verification by anchoring document hashes on the Stellar blockchain.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Enabled time-bound, secure document sharing through unique expiring links and QR codes.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Improved document security, integrity, and controlled access compared to traditional storage methods.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Designed a scalable and modular architecture that can be extended with additional security features.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00C8-FA8B-6722-E581-63807FE58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06ED-A2BC-3BD2-EAFD-3E5C1317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80D63-6B7B-893A-9243-0C60E6BA5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0B3AAB7-D265-1A44-9146-7CACA82E8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180" y="-3211235"/>
            <a:ext cx="9207061" cy="114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/>
              <a:t>➤ </a:t>
            </a:r>
            <a:r>
              <a:rPr lang="en-US" b="1" dirty="0"/>
              <a:t>Smart Contract Integration</a:t>
            </a:r>
            <a:r>
              <a:rPr lang="en-US" dirty="0"/>
              <a:t> – Implement on-chain smart contracts to enforce automated access control and revocation policies.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➤ </a:t>
            </a:r>
            <a:r>
              <a:rPr lang="en-US" b="1" dirty="0"/>
              <a:t>End-to-End Encryption</a:t>
            </a:r>
            <a:r>
              <a:rPr lang="en-US" dirty="0"/>
              <a:t> – Add encryption before IPFS upload to ensure documents remain private even in decentralized storage.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➤ </a:t>
            </a:r>
            <a:r>
              <a:rPr lang="en-US" b="1" dirty="0"/>
              <a:t>Download Tracking &amp; Audit Logs</a:t>
            </a:r>
            <a:r>
              <a:rPr lang="en-US" dirty="0"/>
              <a:t> – Introduce real-time access monitoring to track who accessed or downloaded shared documents.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➤ </a:t>
            </a:r>
            <a:r>
              <a:rPr lang="en-US" b="1" dirty="0"/>
              <a:t>Web &amp; Mobile Application Interface</a:t>
            </a:r>
            <a:r>
              <a:rPr lang="en-US" dirty="0"/>
              <a:t> – Expand beyond Telegram to a full-featured web and mobile platform for broader usability.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➤ </a:t>
            </a:r>
            <a:r>
              <a:rPr lang="en-US" b="1" dirty="0"/>
              <a:t>Biometric or Multi-Factor Authentication</a:t>
            </a:r>
            <a:r>
              <a:rPr lang="en-US" dirty="0"/>
              <a:t> – Enhance security by adding OTP, face verification, or biometric authentication before document access.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96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EF8D-B53D-B2CA-078B-E918D9DD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E804-AD11-EAF7-2FA2-12EAC137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90598D-F8A0-60B8-5BE3-C33304C43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0C30752-10C1-ADA0-346F-176778055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45" y="-5940274"/>
            <a:ext cx="10105957" cy="1228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Zheng, Z., Xie, S., Dai, H., Chen, X., &amp; Wang, H. (2017). </a:t>
            </a:r>
            <a:r>
              <a:rPr lang="en-IN" i="1" dirty="0"/>
              <a:t>An Overview of Blockchain Technology: Architecture, Consensus, and Future Trends.</a:t>
            </a:r>
            <a:r>
              <a:rPr lang="en-IN" dirty="0"/>
              <a:t> IEEE International Congress on Big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Benet, J. (2014). </a:t>
            </a:r>
            <a:r>
              <a:rPr lang="en-IN" i="1" dirty="0"/>
              <a:t>IPFS – Content Addressed, Versioned, P2P File System.</a:t>
            </a:r>
            <a:r>
              <a:rPr lang="en-IN" dirty="0"/>
              <a:t> </a:t>
            </a:r>
            <a:r>
              <a:rPr lang="en-IN" dirty="0" err="1"/>
              <a:t>arXiv</a:t>
            </a:r>
            <a:r>
              <a:rPr lang="en-IN" dirty="0"/>
              <a:t> preprint arXiv:1407.3561.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Smith, R. (2007). </a:t>
            </a:r>
            <a:r>
              <a:rPr lang="en-IN" i="1" dirty="0"/>
              <a:t>An Overview of the Tesseract OCR Engine.</a:t>
            </a:r>
            <a:r>
              <a:rPr lang="en-IN" dirty="0"/>
              <a:t> Proceedings of ICDAR 2007, IEEE.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Goodfellow, I., Bengio, Y., &amp; Courville, A. (2016). </a:t>
            </a:r>
            <a:r>
              <a:rPr lang="en-IN" i="1" dirty="0"/>
              <a:t>Deep Learning.</a:t>
            </a:r>
            <a:r>
              <a:rPr lang="en-IN" dirty="0"/>
              <a:t> MIT Press.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Narayanan, A., Bonneau, J., Felten, E., Miller, A., &amp; Goldfeder, S. (2016). </a:t>
            </a:r>
            <a:r>
              <a:rPr lang="en-IN" i="1" dirty="0"/>
              <a:t>Bitcoin and Cryptocurrency Technologies.</a:t>
            </a:r>
            <a:r>
              <a:rPr lang="en-IN" dirty="0"/>
              <a:t> Princeton University Press.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Stellar Development Foundation. (2023). </a:t>
            </a:r>
            <a:r>
              <a:rPr lang="en-IN" i="1" dirty="0"/>
              <a:t>Stellar Blockchain Documentation.</a:t>
            </a:r>
            <a:r>
              <a:rPr lang="en-IN" dirty="0"/>
              <a:t> [Online]. Available: </a:t>
            </a:r>
            <a:r>
              <a:rPr lang="en-IN" dirty="0">
                <a:hlinkClick r:id="rId3"/>
              </a:rPr>
              <a:t>https://developers.stellar.org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Pinata. (2023). </a:t>
            </a:r>
            <a:r>
              <a:rPr lang="en-IN" i="1" dirty="0"/>
              <a:t>IPFS &amp; Decentralized Storage Solutions.</a:t>
            </a:r>
            <a:r>
              <a:rPr lang="en-IN" dirty="0"/>
              <a:t> [Online]. Available: </a:t>
            </a:r>
            <a:r>
              <a:rPr lang="en-IN" dirty="0">
                <a:hlinkClick r:id="rId4"/>
              </a:rPr>
              <a:t>https://pinata.cloud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/>
              <a:t>Telegraf</a:t>
            </a:r>
            <a:r>
              <a:rPr lang="en-IN" dirty="0"/>
              <a:t> Documentation. (2023). </a:t>
            </a:r>
            <a:r>
              <a:rPr lang="en-IN" i="1" dirty="0"/>
              <a:t>Telegram Bot Framework for Node.js.</a:t>
            </a:r>
            <a:r>
              <a:rPr lang="en-IN" dirty="0"/>
              <a:t> [Online]. Available: </a:t>
            </a:r>
            <a:r>
              <a:rPr lang="en-IN" dirty="0">
                <a:hlinkClick r:id="rId5"/>
              </a:rPr>
              <a:t>https://telegraf.js.org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MongoDB Inc. (2023). </a:t>
            </a:r>
            <a:r>
              <a:rPr lang="en-IN" i="1" dirty="0"/>
              <a:t>MongoDB Official Documentation.</a:t>
            </a:r>
            <a:r>
              <a:rPr lang="en-IN" dirty="0"/>
              <a:t> [Online]. Available: </a:t>
            </a:r>
            <a:r>
              <a:rPr lang="en-IN" dirty="0">
                <a:hlinkClick r:id="rId6"/>
              </a:rPr>
              <a:t>https://www.mongodb.com/docs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860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EFC4-313A-3C0E-E3B5-887AEB63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A12EF-C46A-0396-13EF-BCFBC48B3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3" y="199869"/>
            <a:ext cx="1106774" cy="1256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A0ED22-E146-60D5-0DC6-468CB317A5F4}"/>
              </a:ext>
            </a:extLst>
          </p:cNvPr>
          <p:cNvSpPr txBox="1"/>
          <p:nvPr/>
        </p:nvSpPr>
        <p:spPr>
          <a:xfrm>
            <a:off x="1133953" y="2753711"/>
            <a:ext cx="99240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59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1704</Words>
  <Application>Microsoft Office PowerPoint</Application>
  <PresentationFormat>Widescreen</PresentationFormat>
  <Paragraphs>205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Office Theme</vt:lpstr>
      <vt:lpstr>  MALLA REDDY COLLEGE OF ENGINEERING &amp; TECHNOLOGY  (Autonomous Institution – UGC, Govt. of India)   DEPARTMENT OF COMPUTER SCIENCE AND ENGINEERING</vt:lpstr>
      <vt:lpstr>AGENDA</vt:lpstr>
      <vt:lpstr>Abstract</vt:lpstr>
      <vt:lpstr>    Introduction</vt:lpstr>
      <vt:lpstr>Existing system</vt:lpstr>
      <vt:lpstr>Proposed system</vt:lpstr>
      <vt:lpstr>Software Requirements</vt:lpstr>
      <vt:lpstr>PowerPoint Presentation</vt:lpstr>
      <vt:lpstr>PowerPoint Presentation</vt:lpstr>
      <vt:lpstr>Architecture</vt:lpstr>
      <vt:lpstr>UML Diagrams 1.Class Diagram</vt:lpstr>
      <vt:lpstr>2.Use Case Diagram</vt:lpstr>
      <vt:lpstr>3.Sequence Diagram</vt:lpstr>
      <vt:lpstr>4.Activity Diagram</vt:lpstr>
      <vt:lpstr>Technologies </vt:lpstr>
      <vt:lpstr>Modules Description </vt:lpstr>
      <vt:lpstr>Output Screens </vt:lpstr>
      <vt:lpstr>Output Screens </vt:lpstr>
      <vt:lpstr>Output Screens </vt:lpstr>
      <vt:lpstr>Output Screens </vt:lpstr>
      <vt:lpstr>Output Screens </vt:lpstr>
      <vt:lpstr>Output Screens 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MALLA REDDY COLLEGE OF ENGINEERING &amp; TECHNOLOGY  (Autonomous Institution – UGC, Govt. of India)   DEPARTMENT OF COMPUTER SCIENCE AND ENGINEERING</dc:title>
  <dc:creator>MRCET</dc:creator>
  <cp:lastModifiedBy>Yuva Akhil</cp:lastModifiedBy>
  <cp:revision>45</cp:revision>
  <dcterms:created xsi:type="dcterms:W3CDTF">2024-02-28T09:55:00Z</dcterms:created>
  <dcterms:modified xsi:type="dcterms:W3CDTF">2026-02-27T16:23:23Z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63AC2C19E2174FC4AC502543E11B4E3B_12</vt:lpwstr>
  </property>
  <property fmtid="{D5CDD505-2E9C-101B-9397-08002B2CF9AE}" pid="3" name="KSOProductBuildVer">
    <vt:lpwstr>1033-12.2.0.17545</vt:lpwstr>
  </property>
</Properties>
</file>